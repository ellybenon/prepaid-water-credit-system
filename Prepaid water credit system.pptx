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7E2F469-6360-4342-9589-C308109A015D}" type="datetimeFigureOut">
              <a:rPr lang="en-UG" smtClean="0"/>
              <a:t>26/05/2026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905417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E2F469-6360-4342-9589-C308109A015D}" type="datetimeFigureOut">
              <a:rPr lang="en-UG" smtClean="0"/>
              <a:t>26/05/2026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3225657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E2F469-6360-4342-9589-C308109A015D}" type="datetimeFigureOut">
              <a:rPr lang="en-UG" smtClean="0"/>
              <a:t>26/05/2026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3128447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7E2F469-6360-4342-9589-C308109A015D}" type="datetimeFigureOut">
              <a:rPr lang="en-UG" smtClean="0"/>
              <a:t>26/05/2026</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3512997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7E2F469-6360-4342-9589-C308109A015D}" type="datetimeFigureOut">
              <a:rPr lang="en-UG" smtClean="0"/>
              <a:t>26/05/2026</a:t>
            </a:fld>
            <a:endParaRPr lang="en-UG"/>
          </a:p>
        </p:txBody>
      </p:sp>
      <p:sp>
        <p:nvSpPr>
          <p:cNvPr id="8" name="Footer Placeholder 7"/>
          <p:cNvSpPr>
            <a:spLocks noGrp="1"/>
          </p:cNvSpPr>
          <p:nvPr>
            <p:ph type="ftr" sz="quarter" idx="11"/>
          </p:nvPr>
        </p:nvSpPr>
        <p:spPr/>
        <p:txBody>
          <a:bodyPr/>
          <a:lstStyle/>
          <a:p>
            <a:endParaRPr lang="en-UG"/>
          </a:p>
        </p:txBody>
      </p:sp>
      <p:sp>
        <p:nvSpPr>
          <p:cNvPr id="9" name="Slide Number Placeholder 8"/>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2180937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E2F469-6360-4342-9589-C308109A015D}" type="datetimeFigureOut">
              <a:rPr lang="en-UG" smtClean="0"/>
              <a:t>26/05/2026</a:t>
            </a:fld>
            <a:endParaRPr lang="en-UG"/>
          </a:p>
        </p:txBody>
      </p:sp>
      <p:sp>
        <p:nvSpPr>
          <p:cNvPr id="4" name="Footer Placeholder 3"/>
          <p:cNvSpPr>
            <a:spLocks noGrp="1"/>
          </p:cNvSpPr>
          <p:nvPr>
            <p:ph type="ftr" sz="quarter" idx="11"/>
          </p:nvPr>
        </p:nvSpPr>
        <p:spPr/>
        <p:txBody>
          <a:bodyPr/>
          <a:lstStyle/>
          <a:p>
            <a:endParaRPr lang="en-UG"/>
          </a:p>
        </p:txBody>
      </p:sp>
      <p:sp>
        <p:nvSpPr>
          <p:cNvPr id="5" name="Slide Number Placeholder 4"/>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1530918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E2F469-6360-4342-9589-C308109A015D}" type="datetimeFigureOut">
              <a:rPr lang="en-UG" smtClean="0"/>
              <a:t>26/05/2026</a:t>
            </a:fld>
            <a:endParaRPr lang="en-UG"/>
          </a:p>
        </p:txBody>
      </p:sp>
      <p:sp>
        <p:nvSpPr>
          <p:cNvPr id="3" name="Footer Placeholder 2"/>
          <p:cNvSpPr>
            <a:spLocks noGrp="1"/>
          </p:cNvSpPr>
          <p:nvPr>
            <p:ph type="ftr" sz="quarter" idx="11"/>
          </p:nvPr>
        </p:nvSpPr>
        <p:spPr/>
        <p:txBody>
          <a:bodyPr/>
          <a:lstStyle/>
          <a:p>
            <a:endParaRPr lang="en-UG"/>
          </a:p>
        </p:txBody>
      </p:sp>
      <p:sp>
        <p:nvSpPr>
          <p:cNvPr id="4" name="Slide Number Placeholder 3"/>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3742648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E2F469-6360-4342-9589-C308109A015D}" type="datetimeFigureOut">
              <a:rPr lang="en-UG" smtClean="0"/>
              <a:t>26/05/2026</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1830691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E2F469-6360-4342-9589-C308109A015D}" type="datetimeFigureOut">
              <a:rPr lang="en-UG" smtClean="0"/>
              <a:t>26/05/2026</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513560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E2F469-6360-4342-9589-C308109A015D}" type="datetimeFigureOut">
              <a:rPr lang="en-UG" smtClean="0"/>
              <a:t>26/05/2026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2738665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E2F469-6360-4342-9589-C308109A015D}" type="datetimeFigureOut">
              <a:rPr lang="en-UG" smtClean="0"/>
              <a:t>26/05/2026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50E2DEAD-B9DC-4FF4-8027-B6692797158D}" type="slidenum">
              <a:rPr lang="en-UG" smtClean="0"/>
              <a:t>‹#›</a:t>
            </a:fld>
            <a:endParaRPr lang="en-UG"/>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5368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E2F469-6360-4342-9589-C308109A015D}" type="datetimeFigureOut">
              <a:rPr lang="en-UG" smtClean="0"/>
              <a:t>26/05/2026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32723557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E2F469-6360-4342-9589-C308109A015D}" type="datetimeFigureOut">
              <a:rPr lang="en-UG" smtClean="0"/>
              <a:t>26/05/2026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50E2DEAD-B9DC-4FF4-8027-B6692797158D}" type="slidenum">
              <a:rPr lang="en-UG" smtClean="0"/>
              <a:t>‹#›</a:t>
            </a:fld>
            <a:endParaRPr lang="en-UG"/>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415639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E2F469-6360-4342-9589-C308109A015D}" type="datetimeFigureOut">
              <a:rPr lang="en-UG" smtClean="0"/>
              <a:t>26/05/2026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3058067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E2F469-6360-4342-9589-C308109A015D}" type="datetimeFigureOut">
              <a:rPr lang="en-UG" smtClean="0"/>
              <a:t>26/05/2026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2208415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E2F469-6360-4342-9589-C308109A015D}" type="datetimeFigureOut">
              <a:rPr lang="en-UG" smtClean="0"/>
              <a:t>26/05/2026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50E2DEAD-B9DC-4FF4-8027-B6692797158D}" type="slidenum">
              <a:rPr lang="en-UG" smtClean="0"/>
              <a:t>‹#›</a:t>
            </a:fld>
            <a:endParaRPr lang="en-UG"/>
          </a:p>
        </p:txBody>
      </p:sp>
    </p:spTree>
    <p:extLst>
      <p:ext uri="{BB962C8B-B14F-4D97-AF65-F5344CB8AC3E}">
        <p14:creationId xmlns:p14="http://schemas.microsoft.com/office/powerpoint/2010/main" val="2792861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7E2F469-6360-4342-9589-C308109A015D}" type="datetimeFigureOut">
              <a:rPr lang="en-UG" smtClean="0"/>
              <a:t>26/05/2026</a:t>
            </a:fld>
            <a:endParaRPr lang="en-UG"/>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G"/>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0E2DEAD-B9DC-4FF4-8027-B6692797158D}" type="slidenum">
              <a:rPr lang="en-UG" smtClean="0"/>
              <a:t>‹#›</a:t>
            </a:fld>
            <a:endParaRPr lang="en-UG"/>
          </a:p>
        </p:txBody>
      </p:sp>
    </p:spTree>
    <p:extLst>
      <p:ext uri="{BB962C8B-B14F-4D97-AF65-F5344CB8AC3E}">
        <p14:creationId xmlns:p14="http://schemas.microsoft.com/office/powerpoint/2010/main" val="35441389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Ellybenon/Prepaid-Water-Credit-Syste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0C9E3-C862-EE6B-BCF6-5EC2D1F632CF}"/>
              </a:ext>
            </a:extLst>
          </p:cNvPr>
          <p:cNvSpPr>
            <a:spLocks noGrp="1"/>
          </p:cNvSpPr>
          <p:nvPr>
            <p:ph type="ctrTitle"/>
          </p:nvPr>
        </p:nvSpPr>
        <p:spPr/>
        <p:txBody>
          <a:bodyPr/>
          <a:lstStyle/>
          <a:p>
            <a:r>
              <a:rPr lang="en-US" dirty="0">
                <a:latin typeface="Algerian" panose="04020705040A02060702" pitchFamily="82" charset="0"/>
              </a:rPr>
              <a:t>Prepaid water credit system</a:t>
            </a:r>
            <a:endParaRPr lang="en-UG" dirty="0">
              <a:latin typeface="Algerian" panose="04020705040A02060702" pitchFamily="82" charset="0"/>
            </a:endParaRPr>
          </a:p>
        </p:txBody>
      </p:sp>
      <p:sp>
        <p:nvSpPr>
          <p:cNvPr id="3" name="Subtitle 2">
            <a:extLst>
              <a:ext uri="{FF2B5EF4-FFF2-40B4-BE49-F238E27FC236}">
                <a16:creationId xmlns:a16="http://schemas.microsoft.com/office/drawing/2014/main" id="{C32551D3-154B-05B8-C957-57F8AA38BA56}"/>
              </a:ext>
            </a:extLst>
          </p:cNvPr>
          <p:cNvSpPr>
            <a:spLocks noGrp="1"/>
          </p:cNvSpPr>
          <p:nvPr>
            <p:ph type="subTitle" idx="1"/>
          </p:nvPr>
        </p:nvSpPr>
        <p:spPr/>
        <p:txBody>
          <a:bodyPr>
            <a:noAutofit/>
          </a:bodyPr>
          <a:lstStyle/>
          <a:p>
            <a:pPr algn="ctr"/>
            <a:r>
              <a:rPr lang="en-US" sz="1400" u="sng" dirty="0"/>
              <a:t>Group C Evening</a:t>
            </a:r>
          </a:p>
          <a:p>
            <a:pPr algn="ctr"/>
            <a:r>
              <a:rPr lang="en-US" sz="1400" dirty="0"/>
              <a:t>GIZAMBA JOEL            25/U/BIE/01370/PE</a:t>
            </a:r>
          </a:p>
          <a:p>
            <a:pPr algn="ctr"/>
            <a:r>
              <a:rPr lang="en-US" sz="1400" dirty="0"/>
              <a:t>EPUWAT ELLY BENON 25/U/18668/PE</a:t>
            </a:r>
          </a:p>
          <a:p>
            <a:pPr algn="ctr"/>
            <a:r>
              <a:rPr lang="en-US" sz="1400" dirty="0"/>
              <a:t>MUWONGE RONALD PAUL 25/U/BIE/01401/PE</a:t>
            </a:r>
          </a:p>
          <a:p>
            <a:pPr algn="ctr"/>
            <a:r>
              <a:rPr lang="en-US" sz="1400" dirty="0"/>
              <a:t>DEMBE MARK 25/U/BIE/01366/PE</a:t>
            </a:r>
          </a:p>
          <a:p>
            <a:pPr algn="ctr"/>
            <a:r>
              <a:rPr lang="en-US" sz="1400" dirty="0"/>
              <a:t>AMALI MAUREEN LYDIA 25/U/BIE/05286/PE</a:t>
            </a:r>
            <a:endParaRPr lang="en-UG" sz="1400" dirty="0"/>
          </a:p>
        </p:txBody>
      </p:sp>
    </p:spTree>
    <p:extLst>
      <p:ext uri="{BB962C8B-B14F-4D97-AF65-F5344CB8AC3E}">
        <p14:creationId xmlns:p14="http://schemas.microsoft.com/office/powerpoint/2010/main" val="1850043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E7349-8ED6-0248-A2BE-5AA466AA028F}"/>
              </a:ext>
            </a:extLst>
          </p:cNvPr>
          <p:cNvSpPr>
            <a:spLocks noGrp="1"/>
          </p:cNvSpPr>
          <p:nvPr>
            <p:ph type="title"/>
          </p:nvPr>
        </p:nvSpPr>
        <p:spPr/>
        <p:txBody>
          <a:bodyPr/>
          <a:lstStyle/>
          <a:p>
            <a:pPr algn="ctr"/>
            <a:br>
              <a:rPr lang="en-US" dirty="0">
                <a:latin typeface="Algerian" panose="04020705040A02060702" pitchFamily="82" charset="0"/>
              </a:rPr>
            </a:br>
            <a:r>
              <a:rPr lang="en-US" dirty="0">
                <a:latin typeface="Algerian" panose="04020705040A02060702" pitchFamily="82" charset="0"/>
              </a:rPr>
              <a:t>INTRODUCTION</a:t>
            </a:r>
            <a:endParaRPr lang="en-UG" dirty="0">
              <a:latin typeface="Algerian" panose="04020705040A02060702" pitchFamily="82" charset="0"/>
            </a:endParaRPr>
          </a:p>
        </p:txBody>
      </p:sp>
      <p:sp>
        <p:nvSpPr>
          <p:cNvPr id="3" name="Content Placeholder 2">
            <a:extLst>
              <a:ext uri="{FF2B5EF4-FFF2-40B4-BE49-F238E27FC236}">
                <a16:creationId xmlns:a16="http://schemas.microsoft.com/office/drawing/2014/main" id="{7771D79C-9432-20A4-878B-C4EBE8C7E15C}"/>
              </a:ext>
            </a:extLst>
          </p:cNvPr>
          <p:cNvSpPr>
            <a:spLocks noGrp="1"/>
          </p:cNvSpPr>
          <p:nvPr>
            <p:ph idx="1"/>
          </p:nvPr>
        </p:nvSpPr>
        <p:spPr/>
        <p:txBody>
          <a:bodyPr/>
          <a:lstStyle/>
          <a:p>
            <a:pPr marL="0" indent="0">
              <a:buNone/>
            </a:pPr>
            <a:r>
              <a:rPr lang="en-US" dirty="0"/>
              <a:t>This system is a C-based console application designed to automate water tracking, manage user accounts, and handle prepaid token billing cleanly.</a:t>
            </a:r>
            <a:endParaRPr lang="en-UG" dirty="0"/>
          </a:p>
        </p:txBody>
      </p:sp>
    </p:spTree>
    <p:extLst>
      <p:ext uri="{BB962C8B-B14F-4D97-AF65-F5344CB8AC3E}">
        <p14:creationId xmlns:p14="http://schemas.microsoft.com/office/powerpoint/2010/main" val="1370138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29CD1-0FC8-6075-2978-3771AD33CD99}"/>
              </a:ext>
            </a:extLst>
          </p:cNvPr>
          <p:cNvSpPr>
            <a:spLocks noGrp="1"/>
          </p:cNvSpPr>
          <p:nvPr>
            <p:ph type="title"/>
          </p:nvPr>
        </p:nvSpPr>
        <p:spPr/>
        <p:txBody>
          <a:bodyPr/>
          <a:lstStyle/>
          <a:p>
            <a:r>
              <a:rPr lang="en-US" dirty="0">
                <a:latin typeface="Algerian" panose="04020705040A02060702" pitchFamily="82" charset="0"/>
              </a:rPr>
              <a:t>SYSTEM ARCHITECTURE</a:t>
            </a:r>
            <a:endParaRPr lang="en-UG" dirty="0">
              <a:latin typeface="Algerian" panose="04020705040A02060702" pitchFamily="82" charset="0"/>
            </a:endParaRPr>
          </a:p>
        </p:txBody>
      </p:sp>
      <p:sp>
        <p:nvSpPr>
          <p:cNvPr id="3" name="Content Placeholder 2">
            <a:extLst>
              <a:ext uri="{FF2B5EF4-FFF2-40B4-BE49-F238E27FC236}">
                <a16:creationId xmlns:a16="http://schemas.microsoft.com/office/drawing/2014/main" id="{457D9595-2349-A1D6-EA98-ECEC87E8C9B1}"/>
              </a:ext>
            </a:extLst>
          </p:cNvPr>
          <p:cNvSpPr>
            <a:spLocks noGrp="1"/>
          </p:cNvSpPr>
          <p:nvPr>
            <p:ph idx="1"/>
          </p:nvPr>
        </p:nvSpPr>
        <p:spPr/>
        <p:txBody>
          <a:bodyPr/>
          <a:lstStyle/>
          <a:p>
            <a:r>
              <a:rPr lang="en-UG" b="1" dirty="0"/>
              <a:t>Uses Functions:</a:t>
            </a:r>
            <a:r>
              <a:rPr lang="en-UG" dirty="0"/>
              <a:t> The program is broken down into small, separate tasks so it is easy to read and fix.</a:t>
            </a:r>
          </a:p>
          <a:p>
            <a:r>
              <a:rPr lang="en-UG" b="1" dirty="0"/>
              <a:t>Array of Structures:</a:t>
            </a:r>
            <a:r>
              <a:rPr lang="en-UG" dirty="0"/>
              <a:t> All information is stored in a simple list in the computer's memory for quick access.</a:t>
            </a:r>
          </a:p>
          <a:p>
            <a:r>
              <a:rPr lang="en-UG" b="1" dirty="0"/>
              <a:t>50-Household Limit:</a:t>
            </a:r>
            <a:r>
              <a:rPr lang="en-UG" dirty="0"/>
              <a:t> The database size is fixed to ensure the program runs fast without crashing.</a:t>
            </a:r>
          </a:p>
          <a:p>
            <a:endParaRPr lang="en-UG" dirty="0"/>
          </a:p>
        </p:txBody>
      </p:sp>
    </p:spTree>
    <p:extLst>
      <p:ext uri="{BB962C8B-B14F-4D97-AF65-F5344CB8AC3E}">
        <p14:creationId xmlns:p14="http://schemas.microsoft.com/office/powerpoint/2010/main" val="3567865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4A6A6-19C2-F7ED-BDA2-E78B6037D186}"/>
              </a:ext>
            </a:extLst>
          </p:cNvPr>
          <p:cNvSpPr>
            <a:spLocks noGrp="1"/>
          </p:cNvSpPr>
          <p:nvPr>
            <p:ph type="title"/>
          </p:nvPr>
        </p:nvSpPr>
        <p:spPr/>
        <p:txBody>
          <a:bodyPr/>
          <a:lstStyle/>
          <a:p>
            <a:r>
              <a:rPr lang="en-US" dirty="0"/>
              <a:t>THE HOUSEHOLD DATA BLUE PRINT</a:t>
            </a:r>
            <a:endParaRPr lang="en-UG" dirty="0"/>
          </a:p>
        </p:txBody>
      </p:sp>
      <p:sp>
        <p:nvSpPr>
          <p:cNvPr id="3" name="Content Placeholder 2">
            <a:extLst>
              <a:ext uri="{FF2B5EF4-FFF2-40B4-BE49-F238E27FC236}">
                <a16:creationId xmlns:a16="http://schemas.microsoft.com/office/drawing/2014/main" id="{92469537-4582-C8AE-2712-EB193D083151}"/>
              </a:ext>
            </a:extLst>
          </p:cNvPr>
          <p:cNvSpPr>
            <a:spLocks noGrp="1"/>
          </p:cNvSpPr>
          <p:nvPr>
            <p:ph idx="1"/>
          </p:nvPr>
        </p:nvSpPr>
        <p:spPr/>
        <p:txBody>
          <a:bodyPr/>
          <a:lstStyle/>
          <a:p>
            <a:r>
              <a:rPr lang="en-UG" b="1" dirty="0"/>
              <a:t>All-in-One Variable:</a:t>
            </a:r>
            <a:r>
              <a:rPr lang="en-UG" dirty="0"/>
              <a:t> We created a custom struct to tie a user's ID, Name, Account Type, Balance, and Usage together.</a:t>
            </a:r>
          </a:p>
          <a:p>
            <a:r>
              <a:rPr lang="en-UG" b="1" dirty="0"/>
              <a:t>Account Type Flag:</a:t>
            </a:r>
            <a:r>
              <a:rPr lang="en-UG" dirty="0"/>
              <a:t> A simple number identifies whether the user is Domestic or Commercial.</a:t>
            </a:r>
          </a:p>
          <a:p>
            <a:r>
              <a:rPr lang="en-UG" b="1" dirty="0"/>
              <a:t>The Blueprint:</a:t>
            </a:r>
            <a:endParaRPr lang="en-UG" dirty="0"/>
          </a:p>
          <a:p>
            <a:pPr marL="0" indent="0">
              <a:buNone/>
            </a:pPr>
            <a:endParaRPr lang="en-UG" dirty="0">
              <a:effectLst/>
            </a:endParaRPr>
          </a:p>
        </p:txBody>
      </p:sp>
      <p:pic>
        <p:nvPicPr>
          <p:cNvPr id="5" name="Picture 4">
            <a:extLst>
              <a:ext uri="{FF2B5EF4-FFF2-40B4-BE49-F238E27FC236}">
                <a16:creationId xmlns:a16="http://schemas.microsoft.com/office/drawing/2014/main" id="{E48B31DD-16BC-A7FF-29C3-E1594A0095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653" y="4001294"/>
            <a:ext cx="4175470" cy="2047332"/>
          </a:xfrm>
          <a:prstGeom prst="rect">
            <a:avLst/>
          </a:prstGeom>
        </p:spPr>
      </p:pic>
    </p:spTree>
    <p:extLst>
      <p:ext uri="{BB962C8B-B14F-4D97-AF65-F5344CB8AC3E}">
        <p14:creationId xmlns:p14="http://schemas.microsoft.com/office/powerpoint/2010/main" val="4209656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FA56-3DA6-A49E-1DD9-B815314D3F5F}"/>
              </a:ext>
            </a:extLst>
          </p:cNvPr>
          <p:cNvSpPr>
            <a:spLocks noGrp="1"/>
          </p:cNvSpPr>
          <p:nvPr>
            <p:ph type="title"/>
          </p:nvPr>
        </p:nvSpPr>
        <p:spPr/>
        <p:txBody>
          <a:bodyPr/>
          <a:lstStyle/>
          <a:p>
            <a:r>
              <a:rPr lang="en-US" dirty="0"/>
              <a:t>SYSTEM SECURITY</a:t>
            </a:r>
            <a:endParaRPr lang="en-UG" dirty="0"/>
          </a:p>
        </p:txBody>
      </p:sp>
      <p:sp>
        <p:nvSpPr>
          <p:cNvPr id="3" name="Content Placeholder 2">
            <a:extLst>
              <a:ext uri="{FF2B5EF4-FFF2-40B4-BE49-F238E27FC236}">
                <a16:creationId xmlns:a16="http://schemas.microsoft.com/office/drawing/2014/main" id="{13E5468A-4288-7CD4-2E49-44DC58285B40}"/>
              </a:ext>
            </a:extLst>
          </p:cNvPr>
          <p:cNvSpPr>
            <a:spLocks noGrp="1"/>
          </p:cNvSpPr>
          <p:nvPr>
            <p:ph idx="1"/>
          </p:nvPr>
        </p:nvSpPr>
        <p:spPr/>
        <p:txBody>
          <a:bodyPr/>
          <a:lstStyle/>
          <a:p>
            <a:r>
              <a:rPr lang="en-UG" b="1" dirty="0"/>
              <a:t>Login Gatekeeper:</a:t>
            </a:r>
            <a:r>
              <a:rPr lang="en-UG" dirty="0"/>
              <a:t> A basic login function checks the user before showing the main menu.</a:t>
            </a:r>
          </a:p>
          <a:p>
            <a:r>
              <a:rPr lang="en-UG" b="1" dirty="0"/>
              <a:t>Master PIN:</a:t>
            </a:r>
            <a:r>
              <a:rPr lang="en-UG" dirty="0"/>
              <a:t> The system is protected by a simple access pin.</a:t>
            </a:r>
          </a:p>
          <a:p>
            <a:r>
              <a:rPr lang="en-UG" b="1" dirty="0"/>
              <a:t>Pass or Fail:</a:t>
            </a:r>
            <a:r>
              <a:rPr lang="en-UG" dirty="0"/>
              <a:t> If the password is right, it returns 1 to unlock the app; otherwise, it closes down.</a:t>
            </a:r>
          </a:p>
          <a:p>
            <a:pPr marL="0" indent="0">
              <a:buNone/>
            </a:pPr>
            <a:endParaRPr lang="en-UG" dirty="0"/>
          </a:p>
        </p:txBody>
      </p:sp>
    </p:spTree>
    <p:extLst>
      <p:ext uri="{BB962C8B-B14F-4D97-AF65-F5344CB8AC3E}">
        <p14:creationId xmlns:p14="http://schemas.microsoft.com/office/powerpoint/2010/main" val="2128658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22810-AEFB-EC29-44B7-89954B8B664C}"/>
              </a:ext>
            </a:extLst>
          </p:cNvPr>
          <p:cNvSpPr>
            <a:spLocks noGrp="1"/>
          </p:cNvSpPr>
          <p:nvPr>
            <p:ph type="title"/>
          </p:nvPr>
        </p:nvSpPr>
        <p:spPr/>
        <p:txBody>
          <a:bodyPr/>
          <a:lstStyle/>
          <a:p>
            <a:r>
              <a:rPr lang="en-US" dirty="0"/>
              <a:t>THE MAIN MENU</a:t>
            </a:r>
            <a:endParaRPr lang="en-UG" dirty="0"/>
          </a:p>
        </p:txBody>
      </p:sp>
      <p:sp>
        <p:nvSpPr>
          <p:cNvPr id="3" name="Content Placeholder 2">
            <a:extLst>
              <a:ext uri="{FF2B5EF4-FFF2-40B4-BE49-F238E27FC236}">
                <a16:creationId xmlns:a16="http://schemas.microsoft.com/office/drawing/2014/main" id="{F079719F-075F-6D5C-B28B-6C38B5AE0082}"/>
              </a:ext>
            </a:extLst>
          </p:cNvPr>
          <p:cNvSpPr>
            <a:spLocks noGrp="1"/>
          </p:cNvSpPr>
          <p:nvPr>
            <p:ph idx="1"/>
          </p:nvPr>
        </p:nvSpPr>
        <p:spPr/>
        <p:txBody>
          <a:bodyPr/>
          <a:lstStyle/>
          <a:p>
            <a:r>
              <a:rPr lang="en-UG" b="1" dirty="0"/>
              <a:t>Continuous Loop:</a:t>
            </a:r>
            <a:r>
              <a:rPr lang="en-UG" dirty="0"/>
              <a:t> The program keeps running inside a loop so the admin can do multiple tasks without restarting.</a:t>
            </a:r>
          </a:p>
          <a:p>
            <a:r>
              <a:rPr lang="en-UG" b="1" dirty="0"/>
              <a:t>Menu Routing:</a:t>
            </a:r>
            <a:r>
              <a:rPr lang="en-UG" dirty="0"/>
              <a:t> A switch-case block takes the user's choice (1 to 7) and jumps directly to that specific task.</a:t>
            </a:r>
          </a:p>
          <a:p>
            <a:r>
              <a:rPr lang="en-UG" b="1" dirty="0"/>
              <a:t>Wrong Input Guard:</a:t>
            </a:r>
            <a:r>
              <a:rPr lang="en-UG" dirty="0"/>
              <a:t> If someone types a wrong number or letter, the program catches it and asks them to try again.</a:t>
            </a:r>
          </a:p>
          <a:p>
            <a:endParaRPr lang="en-UG" dirty="0"/>
          </a:p>
        </p:txBody>
      </p:sp>
    </p:spTree>
    <p:extLst>
      <p:ext uri="{BB962C8B-B14F-4D97-AF65-F5344CB8AC3E}">
        <p14:creationId xmlns:p14="http://schemas.microsoft.com/office/powerpoint/2010/main" val="2328447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263D7-498B-A361-A0A4-184EEF874A19}"/>
              </a:ext>
            </a:extLst>
          </p:cNvPr>
          <p:cNvSpPr>
            <a:spLocks noGrp="1"/>
          </p:cNvSpPr>
          <p:nvPr>
            <p:ph type="title"/>
          </p:nvPr>
        </p:nvSpPr>
        <p:spPr/>
        <p:txBody>
          <a:bodyPr/>
          <a:lstStyle/>
          <a:p>
            <a:r>
              <a:rPr lang="en-US" dirty="0"/>
              <a:t>ADDING AND SEARCHING RECORDS</a:t>
            </a:r>
            <a:endParaRPr lang="en-UG" dirty="0"/>
          </a:p>
        </p:txBody>
      </p:sp>
      <p:sp>
        <p:nvSpPr>
          <p:cNvPr id="3" name="Content Placeholder 2">
            <a:extLst>
              <a:ext uri="{FF2B5EF4-FFF2-40B4-BE49-F238E27FC236}">
                <a16:creationId xmlns:a16="http://schemas.microsoft.com/office/drawing/2014/main" id="{252F1693-708F-80A2-E917-79AC5E02AAF7}"/>
              </a:ext>
            </a:extLst>
          </p:cNvPr>
          <p:cNvSpPr>
            <a:spLocks noGrp="1"/>
          </p:cNvSpPr>
          <p:nvPr>
            <p:ph idx="1"/>
          </p:nvPr>
        </p:nvSpPr>
        <p:spPr/>
        <p:txBody>
          <a:bodyPr/>
          <a:lstStyle/>
          <a:p>
            <a:r>
              <a:rPr lang="en-UG" b="1" dirty="0"/>
              <a:t>Registering Users:</a:t>
            </a:r>
            <a:r>
              <a:rPr lang="en-UG" dirty="0"/>
              <a:t> Before adding a new household, the code checks if the list is full or if the ID already exists.</a:t>
            </a:r>
          </a:p>
          <a:p>
            <a:r>
              <a:rPr lang="en-UG" b="1" dirty="0"/>
              <a:t>Searching by ID:</a:t>
            </a:r>
            <a:r>
              <a:rPr lang="en-UG" dirty="0"/>
              <a:t> A basic for loop goes through the list one by one to find the matching ID.</a:t>
            </a:r>
          </a:p>
          <a:p>
            <a:r>
              <a:rPr lang="en-UG" b="1" dirty="0"/>
              <a:t>Not Found Warning:</a:t>
            </a:r>
            <a:r>
              <a:rPr lang="en-UG" dirty="0"/>
              <a:t> If the loop finishes and finds nothing, it safely tells the admin the record doesn't exist.</a:t>
            </a:r>
          </a:p>
          <a:p>
            <a:pPr marL="0" indent="0">
              <a:buNone/>
            </a:pPr>
            <a:endParaRPr lang="en-UG" dirty="0"/>
          </a:p>
        </p:txBody>
      </p:sp>
    </p:spTree>
    <p:extLst>
      <p:ext uri="{BB962C8B-B14F-4D97-AF65-F5344CB8AC3E}">
        <p14:creationId xmlns:p14="http://schemas.microsoft.com/office/powerpoint/2010/main" val="1831383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7DDE3-E8C8-582B-5221-0DC1DB1C3891}"/>
              </a:ext>
            </a:extLst>
          </p:cNvPr>
          <p:cNvSpPr>
            <a:spLocks noGrp="1"/>
          </p:cNvSpPr>
          <p:nvPr>
            <p:ph type="title"/>
          </p:nvPr>
        </p:nvSpPr>
        <p:spPr/>
        <p:txBody>
          <a:bodyPr/>
          <a:lstStyle/>
          <a:p>
            <a:r>
              <a:rPr lang="en-US" dirty="0"/>
              <a:t>UPDATING AND DELETING RECORDS</a:t>
            </a:r>
            <a:endParaRPr lang="en-UG" dirty="0"/>
          </a:p>
        </p:txBody>
      </p:sp>
      <p:sp>
        <p:nvSpPr>
          <p:cNvPr id="3" name="Content Placeholder 2">
            <a:extLst>
              <a:ext uri="{FF2B5EF4-FFF2-40B4-BE49-F238E27FC236}">
                <a16:creationId xmlns:a16="http://schemas.microsoft.com/office/drawing/2014/main" id="{986B1D99-CFB5-006C-EE5B-50C2085B6F43}"/>
              </a:ext>
            </a:extLst>
          </p:cNvPr>
          <p:cNvSpPr>
            <a:spLocks noGrp="1"/>
          </p:cNvSpPr>
          <p:nvPr>
            <p:ph idx="1"/>
          </p:nvPr>
        </p:nvSpPr>
        <p:spPr/>
        <p:txBody>
          <a:bodyPr/>
          <a:lstStyle/>
          <a:p>
            <a:r>
              <a:rPr lang="en-UG" b="1" dirty="0"/>
              <a:t>Editing Info:</a:t>
            </a:r>
            <a:r>
              <a:rPr lang="en-UG" dirty="0"/>
              <a:t> Once an ID is matched, the admin can directly type over the old name or update the daily water usage.</a:t>
            </a:r>
          </a:p>
          <a:p>
            <a:r>
              <a:rPr lang="en-UG" b="1" dirty="0"/>
              <a:t>Deleting a Record:</a:t>
            </a:r>
            <a:r>
              <a:rPr lang="en-UG" dirty="0"/>
              <a:t> To remove someone, the program locates their spot and slides all the remaining names up by one index to fill the gap.</a:t>
            </a:r>
          </a:p>
          <a:p>
            <a:r>
              <a:rPr lang="en-UG" b="1" dirty="0"/>
              <a:t>Updating the Count:</a:t>
            </a:r>
            <a:r>
              <a:rPr lang="en-UG" dirty="0"/>
              <a:t> The system automatically lowers the total user count so it doesn't leave blank spaces in the memory.</a:t>
            </a:r>
          </a:p>
          <a:p>
            <a:pPr marL="0" indent="0">
              <a:buNone/>
            </a:pPr>
            <a:endParaRPr lang="en-UG" dirty="0"/>
          </a:p>
        </p:txBody>
      </p:sp>
    </p:spTree>
    <p:extLst>
      <p:ext uri="{BB962C8B-B14F-4D97-AF65-F5344CB8AC3E}">
        <p14:creationId xmlns:p14="http://schemas.microsoft.com/office/powerpoint/2010/main" val="2816766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C25-AD77-11C3-F75B-00E34C68B504}"/>
              </a:ext>
            </a:extLst>
          </p:cNvPr>
          <p:cNvSpPr>
            <a:spLocks noGrp="1"/>
          </p:cNvSpPr>
          <p:nvPr>
            <p:ph type="title"/>
          </p:nvPr>
        </p:nvSpPr>
        <p:spPr/>
        <p:txBody>
          <a:bodyPr/>
          <a:lstStyle/>
          <a:p>
            <a:r>
              <a:rPr lang="en-US" dirty="0"/>
              <a:t>SAFETY CHECKS AND LIMITS</a:t>
            </a:r>
            <a:endParaRPr lang="en-UG" dirty="0"/>
          </a:p>
        </p:txBody>
      </p:sp>
      <p:sp>
        <p:nvSpPr>
          <p:cNvPr id="3" name="Content Placeholder 2">
            <a:extLst>
              <a:ext uri="{FF2B5EF4-FFF2-40B4-BE49-F238E27FC236}">
                <a16:creationId xmlns:a16="http://schemas.microsoft.com/office/drawing/2014/main" id="{5358C141-0927-2C5C-C1B8-17D4E21AB91B}"/>
              </a:ext>
            </a:extLst>
          </p:cNvPr>
          <p:cNvSpPr>
            <a:spLocks noGrp="1"/>
          </p:cNvSpPr>
          <p:nvPr>
            <p:ph idx="1"/>
          </p:nvPr>
        </p:nvSpPr>
        <p:spPr/>
        <p:txBody>
          <a:bodyPr/>
          <a:lstStyle/>
          <a:p>
            <a:r>
              <a:rPr lang="en-UG" b="1" dirty="0"/>
              <a:t>Low Credit Alert:</a:t>
            </a:r>
            <a:r>
              <a:rPr lang="en-UG" dirty="0"/>
              <a:t> The code constantly checks if a user's balance drops below </a:t>
            </a:r>
            <a:r>
              <a:rPr lang="en-UG" b="1" dirty="0"/>
              <a:t>5.0 units</a:t>
            </a:r>
            <a:r>
              <a:rPr lang="en-UG" dirty="0"/>
              <a:t> to give a warning message.</a:t>
            </a:r>
          </a:p>
          <a:p>
            <a:r>
              <a:rPr lang="en-UG" b="1" dirty="0"/>
              <a:t>Leak Detection:</a:t>
            </a:r>
            <a:r>
              <a:rPr lang="en-UG" dirty="0"/>
              <a:t> If the system notices daily usage jump past </a:t>
            </a:r>
            <a:r>
              <a:rPr lang="en-UG" b="1" dirty="0"/>
              <a:t>50.0 units</a:t>
            </a:r>
            <a:r>
              <a:rPr lang="en-UG" dirty="0"/>
              <a:t>, it prints a critical alert for a possible broken pipe.</a:t>
            </a:r>
          </a:p>
          <a:p>
            <a:r>
              <a:rPr lang="en-UG" b="1" dirty="0"/>
              <a:t>Payment Safeguard:</a:t>
            </a:r>
            <a:r>
              <a:rPr lang="en-UG" dirty="0"/>
              <a:t> If a user deposits less money than the required </a:t>
            </a:r>
            <a:r>
              <a:rPr lang="en-US" dirty="0"/>
              <a:t>maintenance </a:t>
            </a:r>
            <a:r>
              <a:rPr lang="en-UG" dirty="0"/>
              <a:t>fee, the code stops the math immediately and shows an error.</a:t>
            </a:r>
          </a:p>
          <a:p>
            <a:endParaRPr lang="en-UG" dirty="0"/>
          </a:p>
        </p:txBody>
      </p:sp>
    </p:spTree>
    <p:extLst>
      <p:ext uri="{BB962C8B-B14F-4D97-AF65-F5344CB8AC3E}">
        <p14:creationId xmlns:p14="http://schemas.microsoft.com/office/powerpoint/2010/main" val="2282782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B9C08-4D23-0437-8320-0E489BD3FB3B}"/>
              </a:ext>
            </a:extLst>
          </p:cNvPr>
          <p:cNvSpPr>
            <a:spLocks noGrp="1"/>
          </p:cNvSpPr>
          <p:nvPr>
            <p:ph type="title"/>
          </p:nvPr>
        </p:nvSpPr>
        <p:spPr/>
        <p:txBody>
          <a:bodyPr/>
          <a:lstStyle/>
          <a:p>
            <a:r>
              <a:rPr lang="en-US" dirty="0"/>
              <a:t>CONCLUSION</a:t>
            </a:r>
            <a:endParaRPr lang="en-UG" dirty="0"/>
          </a:p>
        </p:txBody>
      </p:sp>
      <p:sp>
        <p:nvSpPr>
          <p:cNvPr id="3" name="Content Placeholder 2">
            <a:extLst>
              <a:ext uri="{FF2B5EF4-FFF2-40B4-BE49-F238E27FC236}">
                <a16:creationId xmlns:a16="http://schemas.microsoft.com/office/drawing/2014/main" id="{BFCEE453-798E-6C49-875F-6BBDCE806BC5}"/>
              </a:ext>
            </a:extLst>
          </p:cNvPr>
          <p:cNvSpPr>
            <a:spLocks noGrp="1"/>
          </p:cNvSpPr>
          <p:nvPr>
            <p:ph idx="1"/>
          </p:nvPr>
        </p:nvSpPr>
        <p:spPr/>
        <p:txBody>
          <a:bodyPr/>
          <a:lstStyle/>
          <a:p>
            <a:r>
              <a:rPr lang="en-UG" b="1" dirty="0"/>
              <a:t> </a:t>
            </a:r>
            <a:r>
              <a:rPr lang="en-UG" dirty="0"/>
              <a:t> This system provides a reliable, secure, and automated way to manage water consumption and prevent resource waste. By using a simple C array of structures to handle basic database tasks smoothly without heavy external software, the application integrates system controls like administrative PIN verification and automated warnings for data security, while its modular code structure allows for easy future upgrades such as connecting actual flow sensors or adding mobile payment integration.</a:t>
            </a:r>
          </a:p>
          <a:p>
            <a:r>
              <a:rPr lang="en-UG" b="1" dirty="0"/>
              <a:t>Source Code:</a:t>
            </a:r>
            <a:r>
              <a:rPr lang="en-UG" dirty="0"/>
              <a:t> </a:t>
            </a:r>
            <a:r>
              <a:rPr lang="en-UG" dirty="0">
                <a:hlinkClick r:id="rId2"/>
              </a:rPr>
              <a:t>https://github.com/Ellybenon/Prepaid-Water-Credit-System</a:t>
            </a:r>
            <a:endParaRPr lang="en-UG" dirty="0"/>
          </a:p>
          <a:p>
            <a:pPr marL="0" indent="0">
              <a:buNone/>
            </a:pPr>
            <a:endParaRPr lang="en-UG" dirty="0"/>
          </a:p>
        </p:txBody>
      </p:sp>
    </p:spTree>
    <p:extLst>
      <p:ext uri="{BB962C8B-B14F-4D97-AF65-F5344CB8AC3E}">
        <p14:creationId xmlns:p14="http://schemas.microsoft.com/office/powerpoint/2010/main" val="25978032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68</TotalTime>
  <Words>642</Words>
  <Application>Microsoft Office PowerPoint</Application>
  <PresentationFormat>Widescreen</PresentationFormat>
  <Paragraphs>40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Algerian</vt:lpstr>
      <vt:lpstr>Arial</vt:lpstr>
      <vt:lpstr>Trebuchet MS</vt:lpstr>
      <vt:lpstr>Wingdings 3</vt:lpstr>
      <vt:lpstr>Facet</vt:lpstr>
      <vt:lpstr>Prepaid water credit system</vt:lpstr>
      <vt:lpstr> INTRODUCTION</vt:lpstr>
      <vt:lpstr>SYSTEM ARCHITECTURE</vt:lpstr>
      <vt:lpstr>THE HOUSEHOLD DATA BLUE PRINT</vt:lpstr>
      <vt:lpstr>SYSTEM SECURITY</vt:lpstr>
      <vt:lpstr>THE MAIN MENU</vt:lpstr>
      <vt:lpstr>ADDING AND SEARCHING RECORDS</vt:lpstr>
      <vt:lpstr>UPDATING AND DELETING RECORDS</vt:lpstr>
      <vt:lpstr>SAFETY CHECKS AND LIMITS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markdembe13@gmail.com</dc:creator>
  <cp:lastModifiedBy>markdembe13@gmail.com</cp:lastModifiedBy>
  <cp:revision>8</cp:revision>
  <dcterms:created xsi:type="dcterms:W3CDTF">2026-05-26T19:36:50Z</dcterms:created>
  <dcterms:modified xsi:type="dcterms:W3CDTF">2026-05-26T20:47:05Z</dcterms:modified>
</cp:coreProperties>
</file>